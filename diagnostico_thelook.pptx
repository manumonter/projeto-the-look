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gerada (R$)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Churn</c:v>
                  </c:pt>
                  <c:pt idx="1">
                    <c:v>Recorrente</c:v>
                  </c:pt>
                  <c:pt idx="2">
                    <c:v>Novo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62970000</c:v>
                </c:pt>
                <c:pt idx="1">
                  <c:v>20070000</c:v>
                </c:pt>
                <c:pt idx="2">
                  <c:v>10000000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Bruta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China</c:v>
                  </c:pt>
                  <c:pt idx="1">
                    <c:v>USA</c:v>
                  </c:pt>
                  <c:pt idx="2">
                    <c:v>Brasil</c:v>
                  </c:pt>
                  <c:pt idx="3">
                    <c:v>S.Korea</c:v>
                  </c:pt>
                  <c:pt idx="4">
                    <c:v>UK</c:v>
                  </c:pt>
                  <c:pt idx="5">
                    <c:v>França</c:v>
                  </c:pt>
                  <c:pt idx="6">
                    <c:v>Alemanha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3650</c:v>
                </c:pt>
                <c:pt idx="1">
                  <c:v>2390</c:v>
                </c:pt>
                <c:pt idx="2">
                  <c:v>1580</c:v>
                </c:pt>
                <c:pt idx="3">
                  <c:v>580</c:v>
                </c:pt>
                <c:pt idx="4">
                  <c:v>490</c:v>
                </c:pt>
                <c:pt idx="5">
                  <c:v>500</c:v>
                </c:pt>
                <c:pt idx="6">
                  <c:v>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Receita Líquida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China</c:v>
                  </c:pt>
                  <c:pt idx="1">
                    <c:v>USA</c:v>
                  </c:pt>
                  <c:pt idx="2">
                    <c:v>Brasil</c:v>
                  </c:pt>
                  <c:pt idx="3">
                    <c:v>S.Korea</c:v>
                  </c:pt>
                  <c:pt idx="4">
                    <c:v>UK</c:v>
                  </c:pt>
                  <c:pt idx="5">
                    <c:v>França</c:v>
                  </c:pt>
                  <c:pt idx="6">
                    <c:v>Alemanha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3200</c:v>
                </c:pt>
                <c:pt idx="1">
                  <c:v>2100</c:v>
                </c:pt>
                <c:pt idx="2">
                  <c:v>1380</c:v>
                </c:pt>
                <c:pt idx="3">
                  <c:v>510</c:v>
                </c:pt>
                <c:pt idx="4">
                  <c:v>430</c:v>
                </c:pt>
                <c:pt idx="5">
                  <c:v>440</c:v>
                </c:pt>
                <c:pt idx="6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Ativo</c:v>
                </c:pt>
                <c:pt idx="1">
                  <c:v>Em risco</c:v>
                </c:pt>
                <c:pt idx="2">
                  <c:v>Churn</c:v>
                </c:pt>
                <c:pt idx="3">
                  <c:v>Sem compra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</c:v>
                </c:pt>
                <c:pt idx="1">
                  <c:v>15</c:v>
                </c:pt>
                <c:pt idx="2">
                  <c:v>40</c:v>
                </c:pt>
                <c:pt idx="3">
                  <c:v>23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Médio (R$)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Alemanha</c:v>
                  </c:pt>
                  <c:pt idx="1">
                    <c:v>UK</c:v>
                  </c:pt>
                  <c:pt idx="2">
                    <c:v>França</c:v>
                  </c:pt>
                  <c:pt idx="3">
                    <c:v>USA</c:v>
                  </c:pt>
                  <c:pt idx="4">
                    <c:v>S.Korea</c:v>
                  </c:pt>
                  <c:pt idx="5">
                    <c:v>Brasil</c:v>
                  </c:pt>
                  <c:pt idx="6">
                    <c:v>China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</c:v>
                </c:pt>
                <c:pt idx="1">
                  <c:v>94</c:v>
                </c:pt>
                <c:pt idx="2">
                  <c:v>91</c:v>
                </c:pt>
                <c:pt idx="3">
                  <c:v>86</c:v>
                </c:pt>
                <c:pt idx="4">
                  <c:v>82</c:v>
                </c:pt>
                <c:pt idx="5">
                  <c:v>79</c:v>
                </c:pt>
                <c:pt idx="6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líquida (R$ Mi)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0.11</c:v>
                </c:pt>
                <c:pt idx="1">
                  <c:v>0.34</c:v>
                </c:pt>
                <c:pt idx="2">
                  <c:v>0.61</c:v>
                </c:pt>
                <c:pt idx="3">
                  <c:v>0.98</c:v>
                </c:pt>
                <c:pt idx="4">
                  <c:v>1.45</c:v>
                </c:pt>
                <c:pt idx="5">
                  <c:v>2.18</c:v>
                </c:pt>
                <c:pt idx="6">
                  <c:v>1.52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 E-COMMERCE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Diagnóstico CRM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468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perdendo dinheiro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onde estão as oportunidades ocultas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42900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bigquery-public-data.thelook_ecommerce  ·  Stack: BigQuery · SQL · Looker Studio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cresceu. Os dados, não.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Cegueira de cliente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diferença entre um cliente que comprou uma vez há 3 anos e um que gasta R$500 todo mês.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69164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sujos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88036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com grafias diferentes, idades nulas, emails duplicados e datas em fusos misturados.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9164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423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inexistentes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88036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clareza sobre Churn, LTV ou ticket médio real. Dinheiro gasto em clientes que não voltam.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Medalha — da bagunça à decisão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69748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orders · order_items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vieram da fonte — sem tratamento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2926080"/>
            <a:ext cx="320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0876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087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18288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limpos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14884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· JOIN das 3 tabelas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logístico · Colunas derivadas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320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50876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5087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18288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prontos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14884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dim_customers_gold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fct_sales_performance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crítica: receita sempre calculada via order_items — nunca via orders — para evitar contagem duplicada.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perdendo dinheiro?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3566160"/>
            <a:ext cx="18288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· Devoluções · Cadastros sem conversão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1 — CHURN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foram lucrativos e sumiram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417320"/>
            <a:ext cx="3200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417320"/>
            <a:ext cx="32004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196596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em Churn concentram a maior parte da receita histórica da base
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 90 dias sem compra sinaliza abandono em e-commerce
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reativação com incentivo pode recuperar parte desse valor
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 segmento 'Em Risco' — ainda há janela de ação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2 — DEVOLUÇÕES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vs. receita líquida por país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41732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41732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das devoluções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- líquida = perda identificada por país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8346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283464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recomendada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3246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países com maior gap bruta/líquida e atuar na causa raiz (produto, expectativa, entrega)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3 — CADASTROS SEM CONVERSÃO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se cadastraram e nunca compraram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clientes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6916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4612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sem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compra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6916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126480" y="2514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gerada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esse grupo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83280"/>
            <a:ext cx="8412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sem compra representa custo de aquisição (anúncio, campanha, indicação) sem retorno. Uma campanha de primeira compra com cupom direcionada a esse segmento pode recuperar parte desse investimento desperdiçado.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as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ocultas?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3566160"/>
            <a:ext cx="18288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valor · Mercados subexplorados · Coorte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1 — SEGMENTAÇÃO RFM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 nossos clientes e o que fazer com cada grupo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3840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417320"/>
          <a:ext cx="4389120" cy="338328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Fidelizar — upsell e programa de pontos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retenção urgente com incentivo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Reativação — cupom ou oferta exclusiva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Compra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primeira compra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Produtos exclusivos e atendimento VIP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2 — MERCADOS SUBEXPLORADOS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com alto ticket médio e baixo volume — onde investir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417320"/>
            <a:ext cx="2926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141732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revela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9659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Alemanha, UK e França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ticket médio acima da média global, mas volume de pedidos ainda baixo.
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Oportunidade: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investimento em marketing nesses mercados pode gerar retorno superior ao custo de aquisição.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3 — ANÁLISE DE COORTE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safras de cadastro geraram mais valor ao longo do tempo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41732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41732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196596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adquiridos em 2023 e 2024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geraram o maior volume de receita.
</a:t>
            </a:r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em 2025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refletir clientes ainda no início do ciclo de vida — monitorar nos próximos meses.
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estratégia de aquisição das safras de maior valor.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recomendados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reativação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clientes Em Risco antes que entrem em Churn. Janela de 30-60 dias.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246120"/>
            <a:ext cx="54864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37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primeira compra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Sem Compra: cupom de desconto por tempo limitado via email.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0876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204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em mercados premium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Alemanha, UK e França: testar aumento de verba de mídia e medir CAC vs LTV.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4612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337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SLA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alerta automático para países com envio atrasado acima de 20%.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 — CRM ANALYTICS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estão limpos.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têm resposta.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agir.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374904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BigQuery · Standard SQL · Looker Studio · Arquitetura Medalha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Look — Relatório Diagnóstico CRM</dc:title>
  <dc:subject>PptxGenJS Presentation</dc:subject>
  <dc:creator>PptxGenJS</dc:creator>
  <cp:lastModifiedBy>PptxGenJS</cp:lastModifiedBy>
  <cp:revision>1</cp:revision>
  <dcterms:created xsi:type="dcterms:W3CDTF">2026-03-25T23:36:47Z</dcterms:created>
  <dcterms:modified xsi:type="dcterms:W3CDTF">2026-03-25T23:36:47Z</dcterms:modified>
</cp:coreProperties>
</file>